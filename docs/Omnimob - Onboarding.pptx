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304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1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c:\Users\Richard Henry\omnimob\apps\web\public\tipo_header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234440"/>
            <a:ext cx="4937760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 para novos membros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multi-tenant de gestão imobiliária  ·  Omnimob + Omniflow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volta completa: produto, arquitetura, código e como começar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Omnimob resolve e para quem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módulos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(Hub) e Omniflow (Flow)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 monorepo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linguagem, frameworks, como rodar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390448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rotas, serviços, segurança multi-tenant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66344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1188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vitrine pública e o editor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216712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6634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057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ambientes e convenções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protege o projeto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035808"/>
            <a:ext cx="457200" cy="45720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634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 primeiros passos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você começa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Omnimob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SaaS multi-tenant de gestão imobiliária — escrito inteiramente em português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</a:t>
            </a: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imobiliária, com seus próprios usuários, imóveis, leads e uma vitrine pública personalizável</a:t>
            </a:r>
            <a:endParaRPr lang="en-US" sz="15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faces do produto:</a:t>
            </a:r>
            <a:endParaRPr lang="en-US" sz="1500" dirty="0"/>
          </a:p>
          <a:p>
            <a:pPr marL="355600" lvl="1" indent="-177800">
              <a:spcBef>
                <a:spcPts val="500"/>
              </a:spcBef>
              <a:buSzPct val="100000"/>
              <a:buChar char="–"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 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gestão de imóveis, leads, clientes, equipe, métricas, publicações sociais</a:t>
            </a:r>
            <a:endParaRPr lang="en-US" sz="1500" dirty="0"/>
          </a:p>
          <a:p>
            <a:pPr marL="355600" lvl="1" indent="-177800">
              <a:spcBef>
                <a:spcPts val="500"/>
              </a:spcBef>
              <a:buSzPct val="100000"/>
              <a:buChar char="–"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pública 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showcase por imobiliária, montado num editor drag-and-drop e servido em </a:t>
            </a:r>
            <a:r>
              <a:rPr lang="en-US" sz="15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omnimob.app/vitrine/&lt;slug&gt;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&lt;slug&gt;.omnimob.app</a:t>
            </a:r>
            <a:endParaRPr lang="en-US" sz="15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Integrações: </a:t>
            </a: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VRSync para ZAP / VivaReal / OLX, Mercado Livre, Meta (Facebook/Instagram), WhatsApp, Stripe e Mercado Pago (Pix), IA com Gemini, API pública por chave</a:t>
            </a:r>
            <a:endParaRPr lang="en-US" sz="15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Planos: </a:t>
            </a: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Básico, Profissional e Premium — mensal ou anual; os recursos são liberados por plano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deixou de ser um sistema só: são dois, dentro do mesmo painel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45720" cy="21122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o que a imobiliária TEM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Acervo, vitrine, leads, clientes, equipe, relatórios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tudo que existia antes da divisão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índigo #6366f1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0" y="1252728"/>
            <a:ext cx="45720" cy="2112264"/>
          </a:xfrm>
          <a:prstGeom prst="rect">
            <a:avLst/>
          </a:prstGeom>
          <a:solidFill>
            <a:srgbClr val="EC0B5B"/>
          </a:solidFill>
          <a:ln w="12700">
            <a:solidFill>
              <a:srgbClr val="EC0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2803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Omniflow  (código: FLOW)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o que ela está FECHANDO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por webhook, funil de negócios, minuta, assinatura digital, comissão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módulo novo — rotas em /api/flow/*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rosa #ec0b5b</a:t>
            </a:r>
            <a:endParaRPr lang="en-US" sz="1150" dirty="0"/>
          </a:p>
        </p:txBody>
      </p:sp>
      <p:pic>
        <p:nvPicPr>
          <p:cNvPr id="15" name="Image 1" descr="c:\Users\Richard Henry\omnimob\apps\web\public\omnimob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697480"/>
            <a:ext cx="2423160" cy="51206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" y="3611880"/>
            <a:ext cx="8321040" cy="1051560"/>
          </a:xfrm>
          <a:prstGeom prst="roundRect">
            <a:avLst>
              <a:gd name="adj" fmla="val 5217"/>
            </a:avLst>
          </a:prstGeom>
          <a:solidFill>
            <a:srgbClr val="2A2416"/>
          </a:solidFill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594360" y="36576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tela ≠ nome de código, de propósito.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lê Omnimob e Omniflow; o código diz HUB e FLOW (enum Tenant.modulos, permissão acessarFlow, prefixo /api/flow/*). Não é dívida: o enum é coluna de banco e o prefixo já está colado nos integradores de clientes reais. A moldura (AdminLayout) é UMA — o que muda é o conteúdo da &lt;nav&gt; e o acento.</a:t>
            </a:r>
            <a:endParaRPr lang="en-US" sz="11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D2190BB-2A45-95AE-F39D-A45CC6F9B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697480"/>
            <a:ext cx="2423160" cy="512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perguntas do acesso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precisam ser SIM — e cada "não" produz uma tela diferente de propósito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81B24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imobiliária CONTRATOU?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Tenant.modulos  →  HUB |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é não: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"Fale com o comercial"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81B24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 pessoa ALCANÇA?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Cargo.acessarPainel / Cargo.acessarFlow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é não: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"Peça ao administrador"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81B24"/>
          </a:solidFill>
          <a:ln w="12700">
            <a:solidFill>
              <a:srgbClr val="EC0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 PLANO libera o recurso?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RECURSOS_FLOW (por plano)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é não: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"Faça upgrade"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61188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Colapsar as três numa mensagem só ("indisponível") foi a primeira tentativa — e estava errada</a:t>
            </a:r>
            <a:endParaRPr lang="en-US" sz="1250" dirty="0"/>
          </a:p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usuário </a:t>
            </a: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só-Hub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só-Flow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Os cargos Jurídico e Financeiro nascem só-Flow</a:t>
            </a:r>
            <a:endParaRPr lang="en-US" sz="1250" dirty="0"/>
          </a:p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única: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apps/web/src/utils/modulos.js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(tela) e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apps/api/src/services/modulos.js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(servidor — quem protege)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puro nos dois lados — sem TypeScript, sem Tailwind, sem Redux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45720" cy="22494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apps/api  (porta 4000)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4, ES modules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via Prisma 6 — Prisma Migrate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(7 dias) + bcryptjs  ·  Validação: Zod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20 req/15min (auth), 300 req/min (geral)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cofre AES-256-GCM, trilha de auditoria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Testes: runner nativo do Node (npm test)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2468880"/>
          </a:xfrm>
          <a:prstGeom prst="roundRect">
            <a:avLst>
              <a:gd name="adj" fmla="val 2963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0" y="1252728"/>
            <a:ext cx="45720" cy="224942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2803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apps/web  (porta 5173)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6  ·  React Router 6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puro em src/styles.css (classes customizadas)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useState local + localStorage para sessão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Imagens: upload direto do browser para o Cloudinary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vitrine com dnd-kit (só como camada de entrada)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Testes: função pura e renderização isolada (esbuild do Vite)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em tudo: 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mensagens de erro, labels, nomes de arquivo e comentários de código. </a:t>
            </a: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na Vercel (omnimob.app), API no Render (api.omnimob.app), banco no Supabase, e-mail via Resend.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e como rodar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workspaces — dois apps, um comando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omnimob/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    ← Express + Prisma (4000)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src/server.js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src/routes/  services/  middlewares/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prisma/schema.prisma + migrations/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web/    ← React + Vite (5173)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src/App.jsx  api.js  styles.css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src/pages/  components/  utils/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test/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docs/ARQUITETURA.md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← leia primeiro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  (workspaces: apps/*)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143000"/>
          <a:ext cx="4206240" cy="21209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dev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 API e web juntos (raiz, concurrently)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dev:api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dev:web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front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test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apps/api ou apps/web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prisma:seed:dev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Imobiliárias de exemplo + catálogos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modulos -- --slug=X --flow --aplicar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o Flow numa conta de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37033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imobiliaria-centro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casa-nobre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usuários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admin-casa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(senha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operacionais 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(ensaio por padrão,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--aplicar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executa):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faxina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avisos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leads-parados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relatorio</a:t>
            </a: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subdominios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mapa das rotas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apps/api/src/server.js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3154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vive 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/api/auth, /api/tenants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recuperação de senha, perfil e configuração da imobiliária, plano, cobrança (Stripe e Pix), exportação LGPD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/api/properties, /api/leads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imóveis e fotos, métricas, IA; leads com funil de atendimento, dono, histórico e "leads parados"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/api/clientes, /usuarios, /cargos, /perfis-busca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ERP: clientes, equipe e cargos (permissões), o que cada cliente procura × acervo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 + /api/chaves-api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API pública da imobiliária — autenticada por CHAVE, escopos, JSON ou XML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/api/importacao, /api/webhooks-saida, /api/canais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Importar de feed (VRSync/XML/JSON), webhooks de saída, Mercado Livre e ponte de WhatsApp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/api/social, /api/ai, /api/auditoria, /api/admin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Publicação Meta, geração com Gemini, trilha de auditoria, painel super-admin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C0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/api/flow/*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Omniflow: negócios, documentos, validações, minutas, contratos, assinatura, comissões, captação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/public, /previa, /health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pública (sem auth), feed.xml, sitemap; Open Graph para robôs; health check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isolamento multi-tenant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token NÃO decide — e a regra nº 1 para modelo novo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45720" cy="19293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relê o usuário do banco a CADA requisição (ativo? qual cargo?) e ignora o que veio no JWT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desativar alguém não surtia efeito por até 7 dias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requireTenant recusa imobiliária desativada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46120" y="1252728"/>
            <a:ext cx="45720" cy="19293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10712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554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x-tenant-slug em toda requisição → req.tenant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query filtra por tenantId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e TipoImovel já foram globais — dois vazamentos passaram meses invisíveis porque com um cliente só o sintoma não aparece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80760" y="1252728"/>
            <a:ext cx="45720" cy="1929384"/>
          </a:xfrm>
          <a:prstGeom prst="rect">
            <a:avLst/>
          </a:prstGeom>
          <a:solidFill>
            <a:srgbClr val="EC0B5B"/>
          </a:solidFill>
          <a:ln w="12700">
            <a:solidFill>
              <a:srgbClr val="EC0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45352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e trilha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554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services/cofre.js cifra segredos de terceiros em repouso (AES-256-GCM, CRYPTO_SECRET)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services/auditoria.js: extensão do Prisma — rota nova entra na trilha sozinha; senha e token nunca entram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8321040" cy="1188720"/>
          </a:xfrm>
          <a:prstGeom prst="roundRect">
            <a:avLst>
              <a:gd name="adj" fmla="val 4615"/>
            </a:avLst>
          </a:prstGeom>
          <a:solidFill>
            <a:srgbClr val="2A241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criar um modelo novo que o cliente edita, COMECE pelo tenantId.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de integração (test/isolamento.test.js) fazem a imobiliária A pedir recurso da B pelo id real e esperam 404. Use getTenantClient() / getGlobalPrisma() de tenantRegistry.js em vez de importar db.js direto — é o seam para banco-por-tenant no futuro.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 camada de serviços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apps/api/src/services/ — regra de negócio desacoplada das rotas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tenantRegistry.js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multi-tenant: resolve onde um tenant vive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1430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aiService.js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descrições, títulos, posts, e-mail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cruzamento.js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perfil × imóvel, elástico de propósito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5727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chavesApi.js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da API: guarda o hash, nunca o texto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025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formatosImportacao.js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VRSync / XML / JSON → linhas importáveis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0025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feedPortais.js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o XML VRSync que os portais buscam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3230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pagamentos.js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porta de entrada, idempotente por (provedor, externoId)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3230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pagamentoMercadoPago.js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avulso (não renova sozinho)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62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leadsParados.js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sem interação há X horas — uma regra só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862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avisoVencimento.js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D-7 e D-1, em fuso de São Paulo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webhooks.js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assinada por HMAC, dispara e esquece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2918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dadosDaVitrine.js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vitrine sabe de verdade sobre a imobiliária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2A1620"/>
          </a:solidFill>
          <a:ln w="12700">
            <a:solidFill>
              <a:srgbClr val="EC0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0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services/flow/  </a:t>
            </a: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funil.js (os 7 estágios e a trava do fechamento — devolve MOTIVOS, nunca booleano) · comissoes.js (split em Prisma.Decimal, valores congelados) · minutas.js (marcador sem dado vira pendência) · assinatura.js (Clicksign/DocuSign) · captacao.js (tradução do que os portais mandam)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apps/api/prisma/schema.prisma — PostgreSQL via Prisma Migrate (baseline em prisma/migrations/0_init)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2092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imobiliária: slug único, branding, plano, modulos (HUB/FLOW), showcaseConfig (JSON da vitrine)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/ Cargo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 por tenant; o cargo carrega as permissões (acessarPainel, acessarFlow, verCobranca…)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/ PropertyImage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Imóvel e fotos no Cloudinary; destaque + ordemVitrine decidem a ordem da grade pública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PropertyLead / LeadEvento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da vitrine com responsável, estágio, motivo de perda; histórico de eventos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linha por pagamento liquidado — Stripe, Pix ou ativação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fez o quê; sem FK para o usuário (sobrevive à remoção)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C0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 / Contrato / FonteCaptacao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modelos do Flow: funil, documentos, minuta congelada, signatários, portais de captação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Estágios do lead: </a:t>
            </a: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NOVO → EM_ATENDIMENTO → VISITA → PROPOSTA → GANHO | PERDIDO      </a:t>
            </a: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imóvel: </a:t>
            </a: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| ACTIVE | INACTIVE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painel e páginas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apps/web/src — entry em main.jsx → App.jsx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2092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 /leads  /auditoria  /imoveis/:id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admin: Dashboard, Leads, trilha de atividade, insights do imóvel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(senha ou Google), recuperação de senha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/vitrine/:slug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pública da imobiliária (ShowcasePage)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/vitrine/:slug/imovel/:id  [/lp]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do imóvel no formato dos portais; /lp é a landing isolada para anúncio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/vitrine/:slug/imoveis/:regiao[/:tipo]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"Imóveis em &lt;bairro&gt;" — as páginas que concorrem no Google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/vitrine/:slug/editar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editor de vitrine (ShowcaseEditorPage)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/sobre /contato /termos /privacidade /vitrines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institucional (público, carregado sob demanda)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7033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rota: 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editor, super-admin e institucionais entram por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lazy()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pacote comum caiu de 2,6 MB para 1,1 MB.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LimiteDeErro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envolve o Suspense e oferece recarregar quando o deploy troca o hash</a:t>
            </a:r>
            <a:endParaRPr lang="en-US" sz="1200" dirty="0"/>
          </a:p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HTTP: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injeta o JWT e o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x-tenant-slug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session.js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user + tenant + token no localStorage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e Editor — a regra mais importante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components/showcase/ é a vitrine; components/builder/ são só os CONTROLES em volta dela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11887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81B24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087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showcaseConfig (JSON)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645920"/>
            <a:ext cx="0" cy="32004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50876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81B24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ShowcaseRenderer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ÚNICOS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H="1">
            <a:off x="1874520" y="2423160"/>
            <a:ext cx="548640" cy="3657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423160" y="2423160"/>
            <a:ext cx="548640" cy="3657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438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529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BuilderPiece: contorno, alça, seleção, guias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8346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2A241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560320" y="285292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em volta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14300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WYSIWYG de verdade: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</a:t>
            </a:r>
            <a:r>
              <a:rPr lang="en-US" sz="11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showcaseConfig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mesmo modo, produz a mesma página no editor e no ar</a:t>
            </a:r>
            <a:endParaRPr lang="en-US" sz="115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editor não desenha a vitrine.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segunda versão de cabeçalho, cartão ou widget — criar uma é o defeito, não a solução (já houve duas de tudo, e divergiram)</a:t>
            </a:r>
            <a:endParaRPr lang="en-US" sz="115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é só COMPORTAMENTO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mora em </a:t>
            </a:r>
            <a:r>
              <a:rPr lang="en-US" sz="11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showcase/contexto.jsx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 vira </a:t>
            </a:r>
            <a:r>
              <a:rPr lang="en-US" sz="11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contentEditable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link não navega, filtro é no-op, mapa sem ponteiro</a:t>
            </a:r>
            <a:endParaRPr lang="en-US" sz="115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peça é uma peça: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fixos e widgets são a mesma coisa para a engine (</a:t>
            </a:r>
            <a:r>
              <a:rPr lang="en-US" sz="11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showcase/engine/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DOM e sem React)</a:t>
            </a:r>
            <a:endParaRPr lang="en-US" sz="115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devolve OPERAÇÕES, 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um config novo — passa pelas mesmas funções do arrasto</a:t>
            </a:r>
            <a:endParaRPr lang="en-US" sz="115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 </a:t>
            </a:r>
            <a:r>
              <a:rPr lang="en-US" sz="11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renderiza cada peça nos dois modos e exige HTML idêntico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tipos, de propósito diferentes — os dois com o runner nativo do Node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45720" cy="23865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 — integração contra o banco de dev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vazamentos entre imobiliárias moravam na junção rota + query; teste de função pura não pega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cria tenants descartáveis (zz-teste-&lt;pid&gt;-) e apaga no fim; um processo por arquivo, em paralelo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isolamento, apiPublica, pagamentos, funilLeads, enderecoPublico, documentacaoApi…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que não tocam o banco: importacaoFormatos, leadsParados, mercadoPago (assinatura do webhook), vitrineIA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0" y="1252728"/>
            <a:ext cx="45720" cy="23865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2803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— função pura e renderização isolada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encostam no banco; test/loader.mjs transpila JSX com o esbuild do Vite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paridade.test.jsx — cada peça da vitrine nos dois modos → HTML idêntico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layout.test.js — colisão, cascata, independência desktop/mobile, reflow idempotente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normalizacao.test.js — migração de config antigo, tolerância a lixo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862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nova sem documentação OpenAPI falha em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documentacaoApi.test.js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endereço oculto precisa sumir do PAYLOAD, não só da tela</a:t>
            </a:r>
            <a:endParaRPr lang="en-US" sz="1200" dirty="0"/>
          </a:p>
          <a:p>
            <a:pPr marL="203200" indent="-203200">
              <a:spcBef>
                <a:spcPts val="300"/>
              </a:spcBef>
              <a:buSzPct val="100000"/>
              <a:buChar char="•"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em </a:t>
            </a:r>
            <a:r>
              <a:rPr lang="en-US" sz="12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apps/web</a:t>
            </a: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abrir PR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e variáveis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evita a maior parte dos enganos: metade aponta para a API, metade para o FRONT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09547"/>
              </p:ext>
            </p:extLst>
          </p:nvPr>
        </p:nvGraphicFramePr>
        <p:xfrm>
          <a:off x="411480" y="1143000"/>
          <a:ext cx="8321040" cy="1076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http://localhost:5173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https://omnimob.app (Vercel) — apex é o canônico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http://localhost:4000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https://api.omnimob.app (Render)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(pooler :6543 / direct :5432)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2514600"/>
            <a:ext cx="4069080" cy="2148840"/>
          </a:xfrm>
          <a:prstGeom prst="roundRect">
            <a:avLst>
              <a:gd name="adj" fmla="val 3404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2624328"/>
            <a:ext cx="45720" cy="19293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76072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apps/api/.env — quem aponta para o FRONT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" y="292608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APP_URL, FRONTEND_URL, ALLOWED_ORIGINS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 para a API: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META_CALLBACK_URL, MERCADOLIVRE_CALLBACK_URL, MERCADOPAGO_WEBHOOK_URL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as duas coisas quebra o CORS ou manda o link do e-mail para um 404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Obrigatórias: DATABASE_URL, DIRECT_URL, JWT_SECRET, GEMINI_API_KEY, STRIPE_*, RESEND_API_KEY (prod), CLOUDINARY_*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2514600"/>
            <a:ext cx="4069080" cy="2148840"/>
          </a:xfrm>
          <a:prstGeom prst="roundRect">
            <a:avLst>
              <a:gd name="adj" fmla="val 3404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663440" y="2624328"/>
            <a:ext cx="45720" cy="19293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28032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apps/web/.env — tudo VITE_, tudo no bundle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28032" y="292608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  (sem barra no fim)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VITE_CLOUDINARY_CLOUD_NAME / _UPLOAD_PRESET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VITE_STRIPE_PUBLISHABLE_KEY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segredo aqui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produção: NODE_ENV=production fecha o atalho de CORS que libera qualquer localhost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do 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código que pareça o código em volta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188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TypeScript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puro nos dois apps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188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Tailwind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em styles.css; inline só para o genuinamente dinâmico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76072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 / Redux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drilling e useState local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663440" y="19659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28032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em tudo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erros, labels, comentários, nomes de arquivo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25603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76072" y="2560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primeiro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novo que o cliente edita nasce com dono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28032" y="2560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formRef pattern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espelhando o form para closures estáveis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32461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11480" y="33375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76072" y="3246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x-tenant-slug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requisição autenticada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28032" y="3246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direto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browser, sem passar pelo backend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1480" y="39319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11480" y="40233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7607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explicam o PORQUÊ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CLAUDE.md e os cabeçalhos dos arquivos contam a história das decisões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63440" y="3931920"/>
            <a:ext cx="4069080" cy="594360"/>
          </a:xfrm>
          <a:prstGeom prst="roundRect">
            <a:avLst>
              <a:gd name="adj" fmla="val 9231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663440" y="4023360"/>
            <a:ext cx="457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2803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por padrão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operacionais só executam com --aplicar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e o que já está decidido que NÃO vai existir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3520440"/>
          </a:xfrm>
          <a:prstGeom prst="roundRect">
            <a:avLst>
              <a:gd name="adj" fmla="val 2078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45720" cy="33009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50" dirty="0" err="1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</a:t>
            </a: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módulo pelo super-admin (hoje é npm run modulos)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de WhatsApp por USUÁRIO, e não por tenant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visitas (o pedido já existe; falta calendário e lembrete)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lat/lng e busca por raio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lógica e retenção / anonimização (LGPD)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ERP: Agenda, Financeiro, Vistorias, Proprietários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schema/banco-por-tenant (seam pronto)</a:t>
            </a:r>
            <a:endParaRPr lang="en-US" sz="115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conteúdo para SEO · CI/CD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3520440"/>
          </a:xfrm>
          <a:prstGeom prst="roundRect">
            <a:avLst>
              <a:gd name="adj" fmla="val 2078"/>
            </a:avLst>
          </a:prstGeom>
          <a:solidFill>
            <a:srgbClr val="181B24"/>
          </a:solidFill>
          <a:ln w="9525">
            <a:solidFill>
              <a:srgbClr val="2A2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0" y="1252728"/>
            <a:ext cx="45720" cy="3300984"/>
          </a:xfrm>
          <a:prstGeom prst="rect">
            <a:avLst/>
          </a:prstGeom>
          <a:solidFill>
            <a:srgbClr val="EC0B5B"/>
          </a:solidFill>
          <a:ln w="12700">
            <a:solidFill>
              <a:srgbClr val="EC0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28032" y="1234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 de propósito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55448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WhatsApp automático por caminho oficial não existe e não vai existir 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Meta nunca expôs status no Cloud API. O produto gera a arte 1080×1920 e a pessoa publica com um toque; ponte não oficial é por conta e risco da imobiliária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hospedamos sessão de WhatsApp: 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hospedar faria a Omnimob operar a violação dos termos da Meta em nome de centenas de clientes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contra a documentação, não verificado contra a API real: 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mercadoLivre.js, assinatura.js (Clicksign/DocuSign), pagamentoMercadoPago.js — os pontos dúbios estão marcados REVISAR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completo em docs/ARQUITETURA.md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primeiros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tarde para ficar de pé; uma semana para se sentir em casa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47960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Omnimob · onboarding</a:t>
            </a: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CLAUDE.md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contexto do projeto inteiro, com o porquê de cada decisão. Depois, docs/ARQUITETURA.md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282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o ambiente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na raiz · configure apps/api/.env e apps/web/.env · npm run prisma:seed:dev · npm run dev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2386584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148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como admin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imobiliaria-centro / admin / senha admin. Navegue pelo painel e abra a vitrine em /vitrine/imobiliaria-centro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98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os testes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em apps/api (integração, banco de dev) e em apps/web (função pura)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" y="3557016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148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483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o Flow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modulos -- --slug=imobiliaria-centro --flow --aplicar e explore o Omniflow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142232"/>
            <a:ext cx="411480" cy="4114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tarefa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por algo pequeno numa rota existente. Modelo novo? tenantId primeiro. Rota nova? documente no OpenAPI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c:\Users\Richard Henry\omnimob\apps\web\public\tipo_header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97280"/>
            <a:ext cx="365760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</a:t>
            </a:r>
            <a:r>
              <a:rPr lang="en-US" sz="14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 ·  docs/ARQUITETURA.md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en-US" sz="14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omnimob.app  ·  api.omnimob.app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3375</Words>
  <Application>Microsoft Office PowerPoint</Application>
  <PresentationFormat>Apresentação na tela (16:9)</PresentationFormat>
  <Paragraphs>367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Omnimob — Onboarding</dc:title>
  <dc:subject>PptxGenJS Presentation</dc:subject>
  <dc:creator>Omnimob</dc:creator>
  <cp:lastModifiedBy>Richard Henry</cp:lastModifiedBy>
  <cp:revision>2</cp:revision>
  <dcterms:created xsi:type="dcterms:W3CDTF">2026-09-14T19:17:09Z</dcterms:created>
  <dcterms:modified xsi:type="dcterms:W3CDTF">2026-09-14T19:23:49Z</dcterms:modified>
</cp:coreProperties>
</file>